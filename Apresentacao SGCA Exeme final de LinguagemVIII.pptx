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71" r:id="rId8"/>
    <p:sldId id="272" r:id="rId9"/>
    <p:sldId id="262" r:id="rId10"/>
    <p:sldId id="264" r:id="rId11"/>
    <p:sldId id="265" r:id="rId12"/>
    <p:sldId id="266" r:id="rId13"/>
    <p:sldId id="267" r:id="rId14"/>
    <p:sldId id="273" r:id="rId15"/>
    <p:sldId id="268" r:id="rId16"/>
    <p:sldId id="269" r:id="rId17"/>
    <p:sldId id="270" r:id="rId18"/>
  </p:sldIdLst>
  <p:sldSz cx="12192000" cy="6858000"/>
  <p:notesSz cx="6858000" cy="12192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3" d="100"/>
          <a:sy n="73" d="100"/>
        </p:scale>
        <p:origin x="594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441626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Saudação inicial. Apresentar o grupo e enquadrar o trabalho como parte da Avaliação Prática de Linguagem de Programação VIII. Mencionar que o projecto escolhido foi o n.º 22 da proposta do docente: Sistema de Gestão de Cooperativa Agrícola.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o domínio do Projecto n.º 22: cooperativa agrícola, entregas, preços por época e distribuição proporcional de lucros. Enfatizar que esta é a parte mais complexa do sistema — não é um CRUD simples, há uma regra de negócio financeira.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Percorrer rapidamente os seis objectivos. Frisar que todos são verificáveis directamente no código entregue, não são apenas aspiracionais.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a pirâmide de camadas: a interface depende dos serviços de negócio, que dependem dos repositórios, que dependem do domínio. Mencionar que a camada de acesso a dados se chama DALL no projecto, em vez de 'Repositories' como sugerido na proposta — pequena diferença de nomenclatura, mesma responsabilidade.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Apresentar as classes de domínio e relacioná-las directamente com os conceitos de POO da disciplina. Estar preparado para abrir o código de uma destas classes durante a demonstração, se o docente pedir.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o diagrama UML exportado da ferramenta utilizada. Explicar a ausência de herança no domínio — o sistema não tem hierarquia de especialização entre as classes, ao contrário de outros projectos da proposta (ex.: gestão escolar), o que é coerente com o domínio.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CA936C-66E7-56D1-91D9-E304529DB0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FB4AFF-1C2C-81D2-E8D7-CFC10F75EA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E804D8-6267-F00B-F8A6-39DBFD2C4C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o diagrama UML exportado da ferramenta utilizada. Explicar a ausência de herança no domínio — o sistema não tem hierarquia de especialização entre as classes, ao contrário de outros projectos da proposta (ex.: gestão escolar), o que é coerente com o domínio.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8CD52A-D50B-5E03-970F-453251A79D7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73173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F36DEF-08D2-BBD9-B5A9-DE5F594CE6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1340DF-7E89-3CC1-9094-C8681B2339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A2263D-73B0-BABB-E818-C2B600ECAC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o diagrama UML exportado da ferramenta utilizada. Explicar a ausência de herança no domínio — o sistema não tem hierarquia de especialização entre as classes, ao contrário de outros projectos da proposta (ex.: gestão escolar), o que é coerente com o domínio.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D441F0-94BC-AE0F-EF71-3DCE06EC572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26645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este slide ao explicar a interface de negócio exigida pela proposta (nome iniciado por 'I'). Para a defesa técnica, preparar um excerto de código com um bloco catch que distinga EpocaEncerradaException de QuantidadeInvalidaException.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Iniciar a demonstração ao vivo aqui: autenticar com um utilizador Admin, mostrar o dashboard com os indicadores e o alerta de soma de quotas. Apontar para a navegação MDI e a forma como o painel desaparece ao abrir um módulo.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Demonstrar o cadastro de um cooperativista, mostrando a quota a ser recalculada em tempo real. Em seguida, registar uma entrega, e opcionalmente tentar registar numa época encerrada para mostrar a EpocaEncerradaException em acção.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é o momento alto da demonstração. Apresentar o exemplo numérico do manual de utilização. Se possível, executar ao vivo a distribuição na aplicação com dados semelhantes, mostrando a grelha de resultados a preencher-se.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que os testes foram manuais e exploratórios, não automatizados — uma limitação reconhecida e incluída nas recomendações de melhoria futura.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74AAA2-853D-E15E-E8BF-2F329C0685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A36A7B-0BE5-01A3-24AE-864FE48D28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3E8728-C30C-FB38-4FEA-74529A81DC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que os testes foram manuais e exploratórios, não automatizados — uma limitação reconhecida e incluída nas recomendações de melhoria futura.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58C2D9-83A4-62E5-73C4-DC702AA574F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588828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slide demonstra maturidade técnica — apresentar as limitações com confiança, não como falhas a esconder. A divergência de perfis de utilizador é o ponto mais importante para a defesa: explicar a causa e a correcção proposta.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Fechar com confiança: o sistema cumpre os objectivos da proposta académica, com limitações conhecidas e documentadas, e um caminho claro de evolução.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Encerrar e abrir para perguntas. Ter pronto: o código de ICalculavelLucro, um bloco catch de excepção personalizada, e a operação CRUD de Entrega, conforme exigido pela secção 17.4 da proposta académica.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9740534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7330107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3893122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6/21/2026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3759798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1401358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9772913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218603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6/21/2026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369736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6/21/2026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1035908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0244581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24118890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5192245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27306838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2882930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6/21/2026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6916098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1640755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979044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6/21/2026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99810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78" r:id="rId10"/>
    <p:sldLayoutId id="2147483679" r:id="rId11"/>
    <p:sldLayoutId id="2147483680" r:id="rId12"/>
    <p:sldLayoutId id="2147483681" r:id="rId13"/>
    <p:sldLayoutId id="2147483682" r:id="rId14"/>
    <p:sldLayoutId id="2147483683" r:id="rId15"/>
    <p:sldLayoutId id="2147483684" r:id="rId16"/>
    <p:sldLayoutId id="2147483685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alphaModFix amt="22000"/>
          </a:blip>
          <a:stretch>
            <a:fillRect/>
          </a:stretch>
        </p:blipFill>
        <p:spPr>
          <a:xfrm>
            <a:off x="9784080" y="548640"/>
            <a:ext cx="1920240" cy="19202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40224" y="1562546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kern="0" spc="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INSTITUTO POLITÉCNICO DA UNIVERSIDADE KIMPA VITA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4" name="Text 1"/>
          <p:cNvSpPr/>
          <p:nvPr/>
        </p:nvSpPr>
        <p:spPr>
          <a:xfrm>
            <a:off x="2277931" y="20345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Licenciatura em Engenharia Informática · Linguagem de Programação VIII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5" name="Text 2"/>
          <p:cNvSpPr/>
          <p:nvPr/>
        </p:nvSpPr>
        <p:spPr>
          <a:xfrm>
            <a:off x="4572000" y="23774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SGCA</a:t>
            </a:r>
            <a:endParaRPr lang="en-US" sz="6000" dirty="0"/>
          </a:p>
        </p:txBody>
      </p:sp>
      <p:sp>
        <p:nvSpPr>
          <p:cNvPr id="6" name="Text 3"/>
          <p:cNvSpPr/>
          <p:nvPr/>
        </p:nvSpPr>
        <p:spPr>
          <a:xfrm>
            <a:off x="2913529" y="3500126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C99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Sistema de Gestão de Cooperativa Agrícola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731520" y="4153509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A9C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Aplicação Windows Forms em C# com persistência em base de dados relacional MySQL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731520" y="4709160"/>
            <a:ext cx="5029200" cy="0"/>
          </a:xfrm>
          <a:prstGeom prst="line">
            <a:avLst/>
          </a:prstGeom>
          <a:noFill/>
          <a:ln w="12700">
            <a:solidFill>
              <a:srgbClr val="5C8A6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1520" y="4937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Autores: </a:t>
            </a:r>
            <a:r>
              <a:rPr lang="en-US" sz="1400" dirty="0">
                <a:solidFill>
                  <a:srgbClr val="A9C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Afonso, Pande, Igildo e Mufundo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31520" y="528523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Docente: </a:t>
            </a:r>
            <a:r>
              <a:rPr lang="en-US" sz="1400" dirty="0">
                <a:solidFill>
                  <a:srgbClr val="A9C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Joaquim João Nsaku Ventura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285129" y="635913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A9C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 Lectivo 2025/2026</a:t>
            </a:r>
            <a:endParaRPr lang="en-US" sz="2800" dirty="0"/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6A4EA4FB-5201-E3EF-980A-D80906A4927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572000" y="133108"/>
            <a:ext cx="1920240" cy="1346510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3A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Problema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603504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Cooperativistas entregam a sua produção à cooperativa, que a comercializa e distribui o lucro proporcionalmente à quota de cada um.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organizações de pequena dimensão, este processo é feito em papel ou folhas de cálculo dispersas.</a:t>
            </a:r>
            <a:endParaRPr lang="en-US" sz="15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500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 de erros de cálculo, perda de dados e ausência de histórico auditável.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040880" y="1691640"/>
            <a:ext cx="4480560" cy="3108960"/>
          </a:xfrm>
          <a:prstGeom prst="roundRect">
            <a:avLst>
              <a:gd name="adj" fmla="val 2941"/>
            </a:avLst>
          </a:prstGeom>
          <a:solidFill>
            <a:srgbClr val="1B3A2D"/>
          </a:solidFill>
          <a:ln/>
          <a:effectLst>
            <a:outerShdw blurRad="127000" dist="38100" dir="54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1965960"/>
            <a:ext cx="822960" cy="8229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0" y="28803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9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Núcleo do problema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315200" y="3291840"/>
            <a:ext cx="3931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Apurar e distribuir lucros de forma proporcional, transparente e auditável — com a soma das quotas a fechar sempre em 100%.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1247120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15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3A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Objectivos do Projecto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1691640"/>
            <a:ext cx="502920" cy="502920"/>
          </a:xfrm>
          <a:prstGeom prst="ellipse">
            <a:avLst/>
          </a:prstGeom>
          <a:solidFill>
            <a:srgbClr val="A9C5A0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1810512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233172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Modelar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68680" y="2633472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Entidades, relações e regras de negócio orientadas a objectos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389120" y="1463040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617720" y="1691640"/>
            <a:ext cx="502920" cy="502920"/>
          </a:xfrm>
          <a:prstGeom prst="ellipse">
            <a:avLst/>
          </a:prstGeom>
          <a:solidFill>
            <a:srgbClr val="A9C5A0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6592" y="1810512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617720" y="233172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4617720" y="2633472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Windows Forms organizada em camadas (UI/BLL/DAL/Model)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8138160" y="1463040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8366760" y="1691640"/>
            <a:ext cx="502920" cy="502920"/>
          </a:xfrm>
          <a:prstGeom prst="ellipse">
            <a:avLst/>
          </a:prstGeom>
          <a:solidFill>
            <a:srgbClr val="A9C5A0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85632" y="1810512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366760" y="233172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Persistir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8366760" y="2633472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em base relacional MySQL via ADO.NET parametrizado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640080" y="3429000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868680" y="3657600"/>
            <a:ext cx="502920" cy="502920"/>
          </a:xfrm>
          <a:prstGeom prst="ellipse">
            <a:avLst/>
          </a:prstGeom>
          <a:solidFill>
            <a:srgbClr val="A9C5A0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7552" y="3776472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68680" y="429768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Calcular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868680" y="4599432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Apuramento e distribuição proporcional de lucros por quota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4389120" y="3429000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4617720" y="3657600"/>
            <a:ext cx="502920" cy="502920"/>
          </a:xfrm>
          <a:prstGeom prst="ellipse">
            <a:avLst/>
          </a:prstGeom>
          <a:solidFill>
            <a:srgbClr val="A9C5A0"/>
          </a:solidFill>
          <a:ln/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36592" y="3776472"/>
            <a:ext cx="274320" cy="27432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4617720" y="429768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</a:t>
            </a:r>
            <a:endParaRPr lang="en-US" sz="1500" dirty="0"/>
          </a:p>
        </p:txBody>
      </p:sp>
      <p:sp>
        <p:nvSpPr>
          <p:cNvPr id="27" name="Text 20"/>
          <p:cNvSpPr/>
          <p:nvPr/>
        </p:nvSpPr>
        <p:spPr>
          <a:xfrm>
            <a:off x="4617720" y="4599432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Excepções personalizadas e validação robusta de dados</a:t>
            </a:r>
            <a:endParaRPr lang="en-US" sz="1050" dirty="0"/>
          </a:p>
        </p:txBody>
      </p:sp>
      <p:sp>
        <p:nvSpPr>
          <p:cNvPr id="28" name="Shape 21"/>
          <p:cNvSpPr/>
          <p:nvPr/>
        </p:nvSpPr>
        <p:spPr>
          <a:xfrm>
            <a:off x="8138160" y="3429000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8366760" y="3657600"/>
            <a:ext cx="502920" cy="502920"/>
          </a:xfrm>
          <a:prstGeom prst="ellipse">
            <a:avLst/>
          </a:prstGeom>
          <a:solidFill>
            <a:srgbClr val="A9C5A0"/>
          </a:solidFill>
          <a:ln/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85632" y="3776472"/>
            <a:ext cx="274320" cy="27432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8366760" y="429768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Testar</a:t>
            </a:r>
            <a:endParaRPr lang="en-US" sz="1500" dirty="0"/>
          </a:p>
        </p:txBody>
      </p:sp>
      <p:sp>
        <p:nvSpPr>
          <p:cNvPr id="32" name="Text 24"/>
          <p:cNvSpPr/>
          <p:nvPr/>
        </p:nvSpPr>
        <p:spPr>
          <a:xfrm>
            <a:off x="8366760" y="4599432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de teste documentados cobrindo fluxos normais e de erro</a:t>
            </a:r>
            <a:endParaRPr lang="en-US" sz="1050" dirty="0"/>
          </a:p>
        </p:txBody>
      </p:sp>
      <p:sp>
        <p:nvSpPr>
          <p:cNvPr id="34" name="Text 26"/>
          <p:cNvSpPr/>
          <p:nvPr/>
        </p:nvSpPr>
        <p:spPr>
          <a:xfrm>
            <a:off x="11247120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15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3A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Arquitectura em Camadas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058400" cy="914400"/>
          </a:xfrm>
          <a:prstGeom prst="roundRect">
            <a:avLst>
              <a:gd name="adj" fmla="val 6000"/>
            </a:avLst>
          </a:prstGeom>
          <a:solidFill>
            <a:srgbClr val="1B3A2D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78308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 (UI)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2130552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9C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formulários Windows Forms — FrmPrincipal (MDI), cadastros, comercialização, relatório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960120" y="2743200"/>
            <a:ext cx="9418320" cy="914400"/>
          </a:xfrm>
          <a:prstGeom prst="roundRect">
            <a:avLst>
              <a:gd name="adj" fmla="val 6000"/>
            </a:avLst>
          </a:prstGeom>
          <a:solidFill>
            <a:srgbClr val="5C8A66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188720" y="2834640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(BLL)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88720" y="3182112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9C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GestorCooperativa, ServicoApuramento, ServicoDistribuicao — regras de negócio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280160" y="3794760"/>
            <a:ext cx="8778240" cy="914400"/>
          </a:xfrm>
          <a:prstGeom prst="roundRect">
            <a:avLst>
              <a:gd name="adj" fmla="val 6000"/>
            </a:avLst>
          </a:prstGeom>
          <a:solidFill>
            <a:srgbClr val="5C8A66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508760" y="3886200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DALL (Acesso a Dados)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508760" y="4233672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9C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repositórios — operações CRUD parametrizadas via ADO.NET / MySqlCommand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600200" y="4846320"/>
            <a:ext cx="8138160" cy="914400"/>
          </a:xfrm>
          <a:prstGeom prst="roundRect">
            <a:avLst>
              <a:gd name="adj" fmla="val 6000"/>
            </a:avLst>
          </a:prstGeom>
          <a:solidFill>
            <a:srgbClr val="0F2A1E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828800" y="49377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/ Enums / Interfaces / Exceptions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828800" y="5285232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9C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classes de domínio, ICalculavelLucro, 5 excepções personalizadas</a:t>
            </a:r>
            <a:endParaRPr lang="en-US" sz="1100" dirty="0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>
            <a:alphaModFix amt="70000"/>
          </a:blip>
          <a:stretch>
            <a:fillRect/>
          </a:stretch>
        </p:blipFill>
        <p:spPr>
          <a:xfrm>
            <a:off x="11247120" y="1691640"/>
            <a:ext cx="548640" cy="54864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1247120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15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3A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Modelação Orientada a Objectos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223221" y="1280160"/>
            <a:ext cx="548640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14400" y="15544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de Domínio (Models)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43131" y="2320962"/>
            <a:ext cx="49377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 err="1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Cooperativista</a:t>
            </a:r>
            <a:r>
              <a:rPr lang="en-US" sz="1600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sócio</a:t>
            </a:r>
            <a:r>
              <a:rPr lang="en-US" sz="1600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quota de participação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 err="1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ProdutoAgricola</a:t>
            </a:r>
            <a:r>
              <a:rPr lang="en-US" sz="1600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</a:t>
            </a:r>
            <a:r>
              <a:rPr lang="en-US" sz="1600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CategoriaProduto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 err="1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EpocaAgricola</a:t>
            </a:r>
            <a:r>
              <a:rPr lang="en-US" sz="1600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 método Encerrar()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 err="1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</a:t>
            </a:r>
            <a:r>
              <a:rPr lang="en-US" sz="1600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</a:t>
            </a:r>
            <a:r>
              <a:rPr lang="en-US" sz="1600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entregue por cooperativista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 err="1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PrecoComercializacao</a:t>
            </a:r>
            <a:r>
              <a:rPr lang="en-US" sz="1600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preço por produto/época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 err="1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Comercializacao</a:t>
            </a:r>
            <a:r>
              <a:rPr lang="en-US" sz="1600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</a:t>
            </a:r>
            <a:r>
              <a:rPr lang="en-US" sz="1600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venda da época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 err="1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DistribuicaoLucro</a:t>
            </a:r>
            <a:r>
              <a:rPr lang="en-US" sz="1600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</a:t>
            </a:r>
            <a:r>
              <a:rPr lang="en-US" sz="1600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por cooperativista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309360" y="1371600"/>
            <a:ext cx="5212080" cy="4297680"/>
          </a:xfrm>
          <a:prstGeom prst="roundRect">
            <a:avLst>
              <a:gd name="adj" fmla="val 1702"/>
            </a:avLst>
          </a:prstGeom>
          <a:solidFill>
            <a:srgbClr val="1B3A2D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583680" y="15544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99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Conceitos POO Aplicados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583680" y="2057400"/>
            <a:ext cx="46634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Encapsulamento — propriedades C# em todas as classes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Polimorfismo — override de ToString(); interface ICalculavelLucro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Composição — GestorCooperativa agrega 6 repositórios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Colecções genéricas — List&lt;T&gt;, Dictionary&lt;TKey,TValue&gt;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excepções personalizadas, derivadas de Exception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247120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15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3A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Diagrama de Classes UML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8686800" y="1554480"/>
            <a:ext cx="2834640" cy="4572000"/>
          </a:xfrm>
          <a:prstGeom prst="roundRect">
            <a:avLst>
              <a:gd name="adj" fmla="val 2581"/>
            </a:avLst>
          </a:prstGeom>
          <a:solidFill>
            <a:srgbClr val="1B3A2D"/>
          </a:solidFill>
          <a:ln/>
        </p:spPr>
      </p:sp>
      <p:sp>
        <p:nvSpPr>
          <p:cNvPr id="7" name="Text 5"/>
          <p:cNvSpPr/>
          <p:nvPr/>
        </p:nvSpPr>
        <p:spPr>
          <a:xfrm>
            <a:off x="8915400" y="17373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9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Relações-chave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915400" y="2148840"/>
            <a:ext cx="246888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→ Cooperativista, Produto, Época (N:1)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Comercialização ◇ Entrega (agregação)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GestorCooperativa ◆ Repositórios (composição)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GestorCooperativa realiza ICalculavelLucro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DistribuicaoLucro → Cooperativista, Comercialização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1247120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15</a:t>
            </a:r>
            <a:endParaRPr lang="en-US" sz="900" dirty="0"/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91B4C7A9-405C-7791-53B1-A259DC25787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660" t="2941" r="11813" b="40196"/>
          <a:stretch>
            <a:fillRect/>
          </a:stretch>
        </p:blipFill>
        <p:spPr>
          <a:xfrm>
            <a:off x="497541" y="1370012"/>
            <a:ext cx="8052099" cy="475646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F55D3B7-5C7B-2721-FE2D-5145E3C01E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D257B4B-7C87-2819-4E7D-C3D15A7E8D35}"/>
              </a:ext>
            </a:extLst>
          </p:cNvPr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 err="1">
                <a:solidFill>
                  <a:srgbClr val="1B3A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Diagrama</a:t>
            </a:r>
            <a:r>
              <a:rPr lang="en-US" sz="3200" b="1" dirty="0">
                <a:solidFill>
                  <a:srgbClr val="1B3A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de </a:t>
            </a:r>
            <a:r>
              <a:rPr lang="en-US" sz="3200" b="1" dirty="0" err="1">
                <a:solidFill>
                  <a:srgbClr val="1B3A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caso</a:t>
            </a:r>
            <a:r>
              <a:rPr lang="en-US" sz="3200" b="1" dirty="0">
                <a:solidFill>
                  <a:srgbClr val="1B3A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de </a:t>
            </a:r>
            <a:r>
              <a:rPr lang="en-US" sz="3200" b="1" dirty="0" err="1">
                <a:solidFill>
                  <a:srgbClr val="1B3A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uso</a:t>
            </a:r>
            <a:endParaRPr lang="en-US" sz="32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A0E36062-D351-F61B-2F39-C969AB9676F6}"/>
              </a:ext>
            </a:extLst>
          </p:cNvPr>
          <p:cNvSpPr/>
          <p:nvPr/>
        </p:nvSpPr>
        <p:spPr>
          <a:xfrm>
            <a:off x="8313870" y="1097280"/>
            <a:ext cx="3317836" cy="4820770"/>
          </a:xfrm>
          <a:prstGeom prst="roundRect">
            <a:avLst>
              <a:gd name="adj" fmla="val 2581"/>
            </a:avLst>
          </a:prstGeom>
          <a:solidFill>
            <a:srgbClr val="1B3A2D"/>
          </a:solidFill>
          <a:ln/>
        </p:spPr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FB006C2B-D035-9EDA-48E4-805FA5D49DD6}"/>
              </a:ext>
            </a:extLst>
          </p:cNvPr>
          <p:cNvSpPr/>
          <p:nvPr/>
        </p:nvSpPr>
        <p:spPr>
          <a:xfrm>
            <a:off x="11247120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15</a:t>
            </a:r>
            <a:endParaRPr lang="en-US" sz="900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964B0508-B917-1013-BD5D-C4F900EFEA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561" y="1097280"/>
            <a:ext cx="7612828" cy="5123329"/>
          </a:xfrm>
          <a:prstGeom prst="rect">
            <a:avLst/>
          </a:prstGeom>
        </p:spPr>
      </p:pic>
      <p:sp>
        <p:nvSpPr>
          <p:cNvPr id="5" name="Text 6">
            <a:extLst>
              <a:ext uri="{FF2B5EF4-FFF2-40B4-BE49-F238E27FC236}">
                <a16:creationId xmlns:a16="http://schemas.microsoft.com/office/drawing/2014/main" id="{5ACE137A-87D7-12B7-0704-A02F9CE41A3B}"/>
              </a:ext>
            </a:extLst>
          </p:cNvPr>
          <p:cNvSpPr/>
          <p:nvPr/>
        </p:nvSpPr>
        <p:spPr>
          <a:xfrm>
            <a:off x="8444754" y="1452281"/>
            <a:ext cx="3076685" cy="328915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</a:t>
            </a: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que </a:t>
            </a:r>
            <a:r>
              <a:rPr lang="en-US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descreve</a:t>
            </a: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</a:t>
            </a:r>
            <a:r>
              <a:rPr lang="en-US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interação</a:t>
            </a: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entre </a:t>
            </a:r>
            <a:r>
              <a:rPr lang="en-US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utilizadores</a:t>
            </a: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a </a:t>
            </a:r>
            <a:r>
              <a:rPr lang="en-US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aplicação</a:t>
            </a:r>
            <a:endParaRPr lang="en-US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4438557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8DEF640-F12B-B190-B339-57DAD55956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C72D58E-C128-D3E6-C1BB-3B779B6D5C2D}"/>
              </a:ext>
            </a:extLst>
          </p:cNvPr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 err="1">
                <a:solidFill>
                  <a:srgbClr val="1B3A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Diagrama</a:t>
            </a:r>
            <a:r>
              <a:rPr lang="en-US" sz="3200" b="1" dirty="0">
                <a:solidFill>
                  <a:srgbClr val="1B3A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de </a:t>
            </a:r>
            <a:r>
              <a:rPr lang="en-US" sz="3200" b="1" dirty="0" err="1">
                <a:solidFill>
                  <a:srgbClr val="1B3A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comunicação</a:t>
            </a:r>
            <a:endParaRPr lang="en-US" sz="32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E5926415-F3FC-65F0-4863-43D11FCDD0C5}"/>
              </a:ext>
            </a:extLst>
          </p:cNvPr>
          <p:cNvSpPr/>
          <p:nvPr/>
        </p:nvSpPr>
        <p:spPr>
          <a:xfrm>
            <a:off x="8313870" y="1097280"/>
            <a:ext cx="3317836" cy="4820770"/>
          </a:xfrm>
          <a:prstGeom prst="roundRect">
            <a:avLst>
              <a:gd name="adj" fmla="val 2581"/>
            </a:avLst>
          </a:prstGeom>
          <a:solidFill>
            <a:srgbClr val="1B3A2D"/>
          </a:solidFill>
          <a:ln/>
        </p:spPr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F59A8482-ABD2-82E3-F321-C17A3645DCE9}"/>
              </a:ext>
            </a:extLst>
          </p:cNvPr>
          <p:cNvSpPr/>
          <p:nvPr/>
        </p:nvSpPr>
        <p:spPr>
          <a:xfrm>
            <a:off x="11247120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15</a:t>
            </a:r>
            <a:endParaRPr lang="en-US" sz="900" dirty="0"/>
          </a:p>
        </p:txBody>
      </p:sp>
      <p:sp>
        <p:nvSpPr>
          <p:cNvPr id="5" name="Text 6">
            <a:extLst>
              <a:ext uri="{FF2B5EF4-FFF2-40B4-BE49-F238E27FC236}">
                <a16:creationId xmlns:a16="http://schemas.microsoft.com/office/drawing/2014/main" id="{B7B3FD6B-18C4-787A-8347-FE25E5700998}"/>
              </a:ext>
            </a:extLst>
          </p:cNvPr>
          <p:cNvSpPr/>
          <p:nvPr/>
        </p:nvSpPr>
        <p:spPr>
          <a:xfrm>
            <a:off x="8444754" y="1452281"/>
            <a:ext cx="3076685" cy="328915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</a:t>
            </a: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que </a:t>
            </a:r>
            <a:r>
              <a:rPr lang="en-US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mostra</a:t>
            </a: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</a:t>
            </a: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</a:t>
            </a: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</a:t>
            </a:r>
            <a:r>
              <a:rPr lang="en-US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informação</a:t>
            </a:r>
            <a:endParaRPr lang="en-US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endParaRPr lang="en-US" sz="1050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F90A85DA-422F-6648-8BA2-0AD9C1B383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489" y="1097280"/>
            <a:ext cx="7115781" cy="525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72244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3A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Interface de Negócio e Excepções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5394960" cy="4297680"/>
          </a:xfrm>
          <a:prstGeom prst="roundRect">
            <a:avLst>
              <a:gd name="adj" fmla="val 1702"/>
            </a:avLst>
          </a:prstGeom>
          <a:solidFill>
            <a:srgbClr val="0F2A1E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14400" y="15544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99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ICalculavelLucro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01168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9C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decimal CalcularLucro(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9C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decimal valorApurado,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9C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decimal quotaPercent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9C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14400" y="3154680"/>
            <a:ext cx="4846320" cy="0"/>
          </a:xfrm>
          <a:prstGeom prst="line">
            <a:avLst/>
          </a:prstGeom>
          <a:noFill/>
          <a:ln w="9525">
            <a:solidFill>
              <a:srgbClr val="5C8A6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32918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Implementada por GestorCooperativa: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361188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9C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Math.Round(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9C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valorApurado * quotaPercent / 100m,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9C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2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9C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470916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 comportamental que formaliza o cálculo central do domínio — substituível por outras estratégias de cálculo no futuro.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1371600"/>
            <a:ext cx="521208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83680" y="15544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Excepções Personalizadas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583680" y="2057400"/>
            <a:ext cx="4663440" cy="502920"/>
          </a:xfrm>
          <a:prstGeom prst="roundRect">
            <a:avLst>
              <a:gd name="adj" fmla="val 49091"/>
            </a:avLst>
          </a:prstGeom>
          <a:solidFill>
            <a:srgbClr val="F7F5EF"/>
          </a:solidFill>
          <a:ln w="12700">
            <a:solidFill>
              <a:srgbClr val="A9C5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12280" y="205740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3A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CooperativistaNaoEncontradaException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583680" y="2679192"/>
            <a:ext cx="4663440" cy="502920"/>
          </a:xfrm>
          <a:prstGeom prst="roundRect">
            <a:avLst>
              <a:gd name="adj" fmla="val 49091"/>
            </a:avLst>
          </a:prstGeom>
          <a:solidFill>
            <a:srgbClr val="F7F5EF"/>
          </a:solidFill>
          <a:ln w="12700">
            <a:solidFill>
              <a:srgbClr val="A9C5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12280" y="2679192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3A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EpocaEncerradaException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583680" y="3300984"/>
            <a:ext cx="4663440" cy="502920"/>
          </a:xfrm>
          <a:prstGeom prst="roundRect">
            <a:avLst>
              <a:gd name="adj" fmla="val 49091"/>
            </a:avLst>
          </a:prstGeom>
          <a:solidFill>
            <a:srgbClr val="F7F5EF"/>
          </a:solidFill>
          <a:ln w="12700">
            <a:solidFill>
              <a:srgbClr val="A9C5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12280" y="3300984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3A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PrecoNaoDefinidoException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583680" y="3922776"/>
            <a:ext cx="4663440" cy="502920"/>
          </a:xfrm>
          <a:prstGeom prst="roundRect">
            <a:avLst>
              <a:gd name="adj" fmla="val 49091"/>
            </a:avLst>
          </a:prstGeom>
          <a:solidFill>
            <a:srgbClr val="F7F5EF"/>
          </a:solidFill>
          <a:ln w="12700">
            <a:solidFill>
              <a:srgbClr val="A9C5A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12280" y="3922776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3A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QuantidadeInvalidaException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583680" y="4544568"/>
            <a:ext cx="4663440" cy="502920"/>
          </a:xfrm>
          <a:prstGeom prst="roundRect">
            <a:avLst>
              <a:gd name="adj" fmla="val 49091"/>
            </a:avLst>
          </a:prstGeom>
          <a:solidFill>
            <a:srgbClr val="F7F5EF"/>
          </a:solidFill>
          <a:ln w="12700">
            <a:solidFill>
              <a:srgbClr val="A9C5A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12280" y="4544568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3A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QuotaInvalidaException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812280" y="5088636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 efectivamente lançadas (throw) e capturadas (try/catch) com mensagens diferenciadas ao utilizador.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1247120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15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 err="1">
                <a:solidFill>
                  <a:srgbClr val="1B3A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Demonstração</a:t>
            </a:r>
            <a:r>
              <a:rPr lang="en-US" sz="3000" b="1" dirty="0">
                <a:solidFill>
                  <a:srgbClr val="1B3A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Ao </a:t>
            </a:r>
            <a:r>
              <a:rPr lang="en-US" sz="3000" b="1" dirty="0" err="1">
                <a:solidFill>
                  <a:srgbClr val="1B3A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Acesso</a:t>
            </a:r>
            <a:r>
              <a:rPr lang="en-US" sz="3000" b="1" dirty="0">
                <a:solidFill>
                  <a:srgbClr val="1B3A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ao Sistema</a:t>
            </a:r>
            <a:endParaRPr lang="en-US" sz="3000" dirty="0"/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B60B8640-5C3A-964F-239B-4A3379C141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555" y="1438835"/>
            <a:ext cx="5327725" cy="4844599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DA1C2842-ADC0-4F79-F2B3-0FAC0C61D2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4433" y="1438834"/>
            <a:ext cx="5169049" cy="4844599"/>
          </a:xfrm>
          <a:prstGeom prst="rect">
            <a:avLst/>
          </a:prstGeom>
        </p:spPr>
      </p:pic>
    </p:spTree>
  </p:cSld>
  <p:clrMapOvr>
    <a:masterClrMapping/>
  </p:clrMapOvr>
  <p:transition spd="slow">
    <p:randomBar dir="vert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 err="1">
                <a:solidFill>
                  <a:srgbClr val="1B3A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Demonstração</a:t>
            </a:r>
            <a:r>
              <a:rPr lang="en-US" sz="2800" b="1" dirty="0">
                <a:solidFill>
                  <a:srgbClr val="1B3A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De Cooperativistas e Entregas</a:t>
            </a:r>
            <a:endParaRPr lang="en-US" sz="2800" dirty="0"/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9026BBC2-0428-5265-2BC4-25CC10938D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456" y="1554480"/>
            <a:ext cx="5577839" cy="4395493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BA9881A3-6A29-10AB-1A74-E3042FA0B5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6921" y="1554480"/>
            <a:ext cx="5313761" cy="4395493"/>
          </a:xfrm>
          <a:prstGeom prst="rect">
            <a:avLst/>
          </a:prstGeom>
        </p:spPr>
      </p:pic>
    </p:spTree>
  </p:cSld>
  <p:clrMapOvr>
    <a:masterClrMapping/>
  </p:clrMapOvr>
  <p:transition spd="slow">
    <p:randomBar dir="vert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3A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Núcleo do Sistema: Distribuição de Lucros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numérico real, com dois cooperativistas e quotas de 55% / 45%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667512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874520"/>
          <a:ext cx="6309360" cy="1463040"/>
        </p:xfrm>
        <a:graphic>
          <a:graphicData uri="http://schemas.openxmlformats.org/drawingml/2006/table">
            <a:tbl>
              <a:tblPr/>
              <a:tblGrid>
                <a:gridCol w="15773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73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773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773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Cooperativista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Quota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 Apurado Total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Lucro Distribuído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02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António Manuel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02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02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124 300 Kz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02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68 365 Kz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02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Joana Pedro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02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02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124 300 Kz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02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55 935 Kz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22960" y="3520440"/>
            <a:ext cx="6309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68 365 + 55 935 = 124 300 Kz — o total distribuído reconcilia exactamente com o valor apurado.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7589520" y="1691640"/>
            <a:ext cx="3931920" cy="4572000"/>
          </a:xfrm>
          <a:prstGeom prst="roundRect">
            <a:avLst>
              <a:gd name="adj" fmla="val 1860"/>
            </a:avLst>
          </a:prstGeom>
          <a:solidFill>
            <a:srgbClr val="0F2A1E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1920240"/>
            <a:ext cx="457200" cy="457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412480" y="19659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9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 obrigatória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7863840" y="251460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soma das quotas dos cooperativistas activos deve ser exactamente 100% antes de qualquer distribuição.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7863840" y="3520440"/>
            <a:ext cx="3474720" cy="0"/>
          </a:xfrm>
          <a:prstGeom prst="line">
            <a:avLst/>
          </a:prstGeom>
          <a:noFill/>
          <a:ln w="9525">
            <a:solidFill>
              <a:srgbClr val="5C8A66"/>
            </a:solidFill>
            <a:prstDash val="solid"/>
          </a:ln>
        </p:spPr>
      </p:sp>
      <p:sp>
        <p:nvSpPr>
          <p:cNvPr id="5" name="Text 8"/>
          <p:cNvSpPr/>
          <p:nvPr/>
        </p:nvSpPr>
        <p:spPr>
          <a:xfrm>
            <a:off x="7863840" y="370332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A9C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QuotaInvalidaException é lançada se a soma falhar — operação bloqueada antes de qualquer gravação.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7863840" y="4709160"/>
            <a:ext cx="3474720" cy="0"/>
          </a:xfrm>
          <a:prstGeom prst="line">
            <a:avLst/>
          </a:prstGeom>
          <a:noFill/>
          <a:ln w="9525">
            <a:solidFill>
              <a:srgbClr val="5C8A66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7863840" y="4892040"/>
            <a:ext cx="3474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A9C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PrecoNaoDefinidoException é lançada se algum produto entregue não tiver preço definido na época.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11247120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15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3A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Testes e Validação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casos de teste manuais, cobrindo fluxos normais e cenários de erro</a:t>
            </a:r>
            <a:endParaRPr lang="en-US" sz="1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45920"/>
          <a:ext cx="10881360" cy="365760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75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Área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Cenários Cobertos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02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T01–T04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02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Cooperativistas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02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Cadastro válido, campos vazios, quota excedida, sócio duplicado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02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T05–T07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02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Entregas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02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Registo válido, época encerrada, quantidade inválida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02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T08–T09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02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Preços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02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Definição de preço, cálculo sem preço definido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02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T10–T11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02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Distribuição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02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Quotas a 100% (sucesso), quotas inválidas (bloqueio)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02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T12–T15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02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Relatório / Acesso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02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Relatório vazio, exportação CSV/PDF, autenticação inválida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5532120"/>
            <a:ext cx="365760" cy="36576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97280" y="55321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os 15 casos com resultado conforme esperado — nenhuma excepção não tratada observada na interface.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39749A-A128-882C-9691-86B1EC72D1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6E22222-C877-1202-A40E-4112F863A98F}"/>
              </a:ext>
            </a:extLst>
          </p:cNvPr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3A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Testes e Validação</a:t>
            </a:r>
            <a:endParaRPr lang="en-US" sz="3200" dirty="0"/>
          </a:p>
        </p:txBody>
      </p:sp>
      <p:pic>
        <p:nvPicPr>
          <p:cNvPr id="5" name="Image 0" descr="preencoded.png">
            <a:extLst>
              <a:ext uri="{FF2B5EF4-FFF2-40B4-BE49-F238E27FC236}">
                <a16:creationId xmlns:a16="http://schemas.microsoft.com/office/drawing/2014/main" id="{7E48C463-1A33-110A-5895-1C8987ED41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5532120"/>
            <a:ext cx="365760" cy="365760"/>
          </a:xfrm>
          <a:prstGeom prst="rect">
            <a:avLst/>
          </a:prstGeom>
        </p:spPr>
      </p:pic>
      <p:sp>
        <p:nvSpPr>
          <p:cNvPr id="4" name="Elipse 3">
            <a:extLst>
              <a:ext uri="{FF2B5EF4-FFF2-40B4-BE49-F238E27FC236}">
                <a16:creationId xmlns:a16="http://schemas.microsoft.com/office/drawing/2014/main" id="{20CBDFE1-4682-C8DD-A2D9-9E58FEA77A3F}"/>
              </a:ext>
            </a:extLst>
          </p:cNvPr>
          <p:cNvSpPr/>
          <p:nvPr/>
        </p:nvSpPr>
        <p:spPr>
          <a:xfrm>
            <a:off x="1927274" y="2029265"/>
            <a:ext cx="6682154" cy="215235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AO"/>
          </a:p>
        </p:txBody>
      </p:sp>
    </p:spTree>
    <p:extLst>
      <p:ext uri="{BB962C8B-B14F-4D97-AF65-F5344CB8AC3E}">
        <p14:creationId xmlns:p14="http://schemas.microsoft.com/office/powerpoint/2010/main" val="8180428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3A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Dificuldades e Limitações Identificadas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Registo honesto de problemas encontrados e soluções adoptadas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88136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blurRad="50800" dist="12700" dir="54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947672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1801368"/>
            <a:ext cx="9784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Navegação MDI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1463040" y="2121408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a encobrir formulários filhos — resolvido com ocultação/restauro condicional do painel.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40080" y="2834640"/>
            <a:ext cx="1088136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blurRad="50800" dist="12700" dir="54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090672"/>
            <a:ext cx="411480" cy="4114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63040" y="2944368"/>
            <a:ext cx="9784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Esquema da BD desactualizado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1463040" y="3264408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Perfis 'Administrador/Funcionario' (script original) vs. 'Admin/Operador' (dados actuais) — Sessao.EAdministrador() nunca valida 'admin'.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40080" y="3977640"/>
            <a:ext cx="1088136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blurRad="50800" dist="12700" dir="54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4233672"/>
            <a:ext cx="411480" cy="4114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63040" y="4087368"/>
            <a:ext cx="9784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Geração de PDF sem bibliotecas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1463040" y="4407408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Construção de raiz da estrutura PDF 1.4, evitando dependências externas não aprovadas.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640080" y="5120640"/>
            <a:ext cx="1088136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blurRad="50800" dist="12700" dir="54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5376672"/>
            <a:ext cx="411480" cy="41148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463040" y="5230368"/>
            <a:ext cx="9784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IRepositorio&lt;T&gt; inconsistente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463040" y="5550408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 todos os repositórios declaram explicitamente a interface genérica — oportunidade de uniformização.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3A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Conclusão e Trabalho Futuro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5394960" cy="4297680"/>
          </a:xfrm>
          <a:prstGeom prst="roundRect">
            <a:avLst>
              <a:gd name="adj" fmla="val 1702"/>
            </a:avLst>
          </a:prstGeom>
          <a:solidFill>
            <a:srgbClr val="1B3A2D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600200"/>
            <a:ext cx="411480" cy="411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63040" y="16459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99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foi alcançado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914400" y="2194560"/>
            <a:ext cx="48463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Modelação OO completa, com interface, composição e excepções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em camadas consistente (UI/BLL/DAL/Model)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Persistência ADO.NET com CRUD parametrizado e íntegro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de negócio financeira robusta e auditável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testes funcionais documentados, todos conformes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309360" y="1371600"/>
            <a:ext cx="521208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1600200"/>
            <a:ext cx="411480" cy="4114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132320" y="16459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passos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6583680" y="2194560"/>
            <a:ext cx="47548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Hashing seguro de palavras-passe (BCrypt)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Corrigir divergência de perfis Admin/Operador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 automatizados (xUnit) para GestorCooperativa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de auditoria de operações sensíveis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Backups periódicos da base de dados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2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alphaModFix amt="22000"/>
          </a:blip>
          <a:stretch>
            <a:fillRect/>
          </a:stretch>
        </p:blipFill>
        <p:spPr>
          <a:xfrm>
            <a:off x="9784080" y="548640"/>
            <a:ext cx="1920240" cy="19202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69602" y="214817"/>
            <a:ext cx="8229600" cy="24554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Obrigado</a:t>
            </a: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</a:t>
            </a:r>
            <a:endParaRPr lang="en-US" sz="5200" dirty="0"/>
          </a:p>
        </p:txBody>
      </p:sp>
      <p:sp>
        <p:nvSpPr>
          <p:cNvPr id="6" name="Text 3"/>
          <p:cNvSpPr/>
          <p:nvPr/>
        </p:nvSpPr>
        <p:spPr>
          <a:xfrm>
            <a:off x="2212041" y="2663106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A9C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SGCA — Sistema de Gestão de Cooperativa Agrícola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3474720" y="3880653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A9C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Afonso · Pande · Igildo · Mufundo</a:t>
            </a: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2212041" y="6277423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Linguagem de Programação VIII · IPUKV · 2025/2026</a:t>
            </a:r>
            <a:endParaRPr lang="en-US" sz="20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theme/theme1.xml><?xml version="1.0" encoding="utf-8"?>
<a:theme xmlns:a="http://schemas.openxmlformats.org/drawingml/2006/main" name="Facetado">
  <a:themeElements>
    <a:clrScheme name="Facetado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ado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do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40</TotalTime>
  <Words>1606</Words>
  <Application>Microsoft Office PowerPoint</Application>
  <PresentationFormat>Widescreen</PresentationFormat>
  <Paragraphs>194</Paragraphs>
  <Slides>17</Slides>
  <Notes>17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17</vt:i4>
      </vt:variant>
    </vt:vector>
  </HeadingPairs>
  <TitlesOfParts>
    <vt:vector size="24" baseType="lpstr">
      <vt:lpstr>Arial</vt:lpstr>
      <vt:lpstr>Calibri</vt:lpstr>
      <vt:lpstr>Cambria</vt:lpstr>
      <vt:lpstr>Courier New</vt:lpstr>
      <vt:lpstr>Trebuchet MS</vt:lpstr>
      <vt:lpstr>Wingdings 3</vt:lpstr>
      <vt:lpstr>Facetado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SGCA — Sistema de Gestão de Cooperativa Agrícola</dc:title>
  <dc:subject>PptxGenJS Presentation</dc:subject>
  <dc:creator>Afonso, Pande, Igildo, Mufundo</dc:creator>
  <cp:lastModifiedBy>Afonso Manuel</cp:lastModifiedBy>
  <cp:revision>6</cp:revision>
  <dcterms:created xsi:type="dcterms:W3CDTF">2026-06-21T06:00:10Z</dcterms:created>
  <dcterms:modified xsi:type="dcterms:W3CDTF">2026-06-21T17:37:40Z</dcterms:modified>
</cp:coreProperties>
</file>